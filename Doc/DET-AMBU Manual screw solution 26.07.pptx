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17"/>
  </p:notesMasterIdLst>
  <p:sldIdLst>
    <p:sldId id="325" r:id="rId2"/>
    <p:sldId id="344" r:id="rId3"/>
    <p:sldId id="348" r:id="rId4"/>
    <p:sldId id="351" r:id="rId5"/>
    <p:sldId id="349" r:id="rId6"/>
    <p:sldId id="331" r:id="rId7"/>
    <p:sldId id="347" r:id="rId8"/>
    <p:sldId id="342" r:id="rId9"/>
    <p:sldId id="352" r:id="rId10"/>
    <p:sldId id="338" r:id="rId11"/>
    <p:sldId id="346" r:id="rId12"/>
    <p:sldId id="343" r:id="rId13"/>
    <p:sldId id="341" r:id="rId14"/>
    <p:sldId id="350" r:id="rId15"/>
    <p:sldId id="327" r:id="rId16"/>
  </p:sldIdLst>
  <p:sldSz cx="12192000" cy="6858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CBB"/>
    <a:srgbClr val="1AB8F2"/>
    <a:srgbClr val="4489BA"/>
    <a:srgbClr val="A2CCE6"/>
    <a:srgbClr val="BEE6FA"/>
    <a:srgbClr val="0000FF"/>
    <a:srgbClr val="0087DC"/>
    <a:srgbClr val="FFFFCC"/>
    <a:srgbClr val="FFAA00"/>
    <a:srgbClr val="B9E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9B2FCC-4C98-C921-ED29-FA71FB246957}" v="1" dt="2026-08-26T03:29:37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it Namniraspai" userId="S::tarnamni@deltaww.com::b90e106a-4427-48ee-92c7-9f1f90d9cf02" providerId="AD" clId="Web-{4F9B2FCC-4C98-C921-ED29-FA71FB246957}"/>
    <pc:docChg chg="modSld">
      <pc:chgData name="Tarit Namniraspai" userId="S::tarnamni@deltaww.com::b90e106a-4427-48ee-92c7-9f1f90d9cf02" providerId="AD" clId="Web-{4F9B2FCC-4C98-C921-ED29-FA71FB246957}" dt="2026-08-26T03:29:37.768" v="0" actId="1076"/>
      <pc:docMkLst>
        <pc:docMk/>
      </pc:docMkLst>
      <pc:sldChg chg="modSp">
        <pc:chgData name="Tarit Namniraspai" userId="S::tarnamni@deltaww.com::b90e106a-4427-48ee-92c7-9f1f90d9cf02" providerId="AD" clId="Web-{4F9B2FCC-4C98-C921-ED29-FA71FB246957}" dt="2026-08-26T03:29:37.768" v="0" actId="1076"/>
        <pc:sldMkLst>
          <pc:docMk/>
          <pc:sldMk cId="3563933289" sldId="331"/>
        </pc:sldMkLst>
        <pc:picChg chg="mod">
          <ac:chgData name="Tarit Namniraspai" userId="S::tarnamni@deltaww.com::b90e106a-4427-48ee-92c7-9f1f90d9cf02" providerId="AD" clId="Web-{4F9B2FCC-4C98-C921-ED29-FA71FB246957}" dt="2026-08-26T03:29:37.768" v="0" actId="1076"/>
          <ac:picMkLst>
            <pc:docMk/>
            <pc:sldMk cId="3563933289" sldId="331"/>
            <ac:picMk id="12" creationId="{AE933215-EF3B-CBE3-ACEC-8244DF8370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F0D9C-0244-48E5-AAB4-F314FC181477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380C3-7D2B-43B9-A2FF-0551F6D20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9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5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/>
              <a:t>Presentation Title Goes Here</a:t>
            </a:r>
            <a:br>
              <a:rPr lang="en-US" altLang="zh-TW"/>
            </a:br>
            <a:r>
              <a:rPr lang="en-US" altLang="zh-TW"/>
              <a:t>Maximum 2 Lines (32-46pt)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TW" sz="3000"/>
              <a:t>Presentation Subtitle Goes Here</a:t>
            </a:r>
            <a:br>
              <a:rPr lang="en-US" altLang="zh-TW" sz="3000"/>
            </a:br>
            <a:r>
              <a:rPr lang="en-US" altLang="zh-TW" sz="300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2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sz="1800"/>
              <a:t>Presenter</a:t>
            </a:r>
            <a:r>
              <a:rPr lang="zh-TW" altLang="en-US" sz="1800"/>
              <a:t> </a:t>
            </a:r>
            <a:r>
              <a:rPr lang="en-US" altLang="zh-TW" sz="1800"/>
              <a:t>Name</a:t>
            </a:r>
            <a:r>
              <a:rPr lang="zh-TW" altLang="en-US" sz="1800"/>
              <a:t>｜</a:t>
            </a:r>
            <a:r>
              <a:rPr lang="en-US" altLang="zh-TW" sz="1800"/>
              <a:t>Department</a:t>
            </a:r>
            <a:r>
              <a:rPr lang="zh-TW" altLang="en-US" sz="1800"/>
              <a:t>｜</a:t>
            </a:r>
            <a:r>
              <a:rPr lang="en-US" altLang="zh-TW" sz="1800"/>
              <a:t>MM/DD/YYYY</a:t>
            </a:r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/>
              <a:t>Cover </a:t>
            </a:r>
            <a:r>
              <a:rPr lang="en-US" altLang="zh-TW" err="1"/>
              <a:t>Page_White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432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Image">
    <p:bg>
      <p:bgPr>
        <a:blipFill dpi="0" rotWithShape="1">
          <a:blip r:embed="rId2">
            <a:alphaModFix amt="9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32A9990-6214-495A-B5B6-C1801359D1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79379" cy="6850900"/>
          </a:xfrm>
          <a:prstGeom prst="rect">
            <a:avLst/>
          </a:prstGeom>
        </p:spPr>
      </p:pic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CE458713-38E5-4D94-9527-7C2BC1D5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912" y="5705762"/>
            <a:ext cx="2010917" cy="31965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MM/DD/YYYY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135E4C83-C41A-49B9-9C41-417375F7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897" y="5333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Presenter Name</a:t>
            </a:r>
            <a:r>
              <a:rPr lang="zh-TW" altLang="en-US"/>
              <a:t>｜</a:t>
            </a:r>
            <a:r>
              <a:rPr lang="en-US" altLang="zh-TW"/>
              <a:t>Department </a:t>
            </a:r>
            <a:endParaRPr 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378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/>
              <a:t>Presentation Title Goes Here</a:t>
            </a:r>
            <a:br>
              <a:rPr lang="en-US" altLang="zh-TW"/>
            </a:br>
            <a:r>
              <a:rPr lang="en-US" altLang="zh-TW"/>
              <a:t>Maximum 2 Lines (32-46pt)</a:t>
            </a:r>
            <a:endParaRPr lang="en-US"/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35B9A589-C73E-46B0-B30E-8BBC42A4E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/>
              <a:t>Cover </a:t>
            </a:r>
            <a:r>
              <a:rPr lang="en-US" altLang="zh-TW" err="1"/>
              <a:t>Page_Image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86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1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/>
              <a:t>Break Page Title Goes Here</a:t>
            </a:r>
            <a:br>
              <a:rPr lang="en-US" altLang="zh-TW"/>
            </a:br>
            <a:r>
              <a:rPr lang="en-US" altLang="zh-TW"/>
              <a:t>Maximum 2 Lines (32-46pt)</a:t>
            </a:r>
            <a:endParaRPr lang="en-US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2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TW"/>
              <a:t>Break Page Subtitle Goes Here</a:t>
            </a:r>
            <a:br>
              <a:rPr lang="en-US" altLang="zh-TW"/>
            </a:br>
            <a:r>
              <a:rPr lang="en-US" altLang="zh-TW"/>
              <a:t>Maximum 2 Lines (24-32pt)</a:t>
            </a:r>
          </a:p>
        </p:txBody>
      </p:sp>
    </p:spTree>
    <p:extLst>
      <p:ext uri="{BB962C8B-B14F-4D97-AF65-F5344CB8AC3E}">
        <p14:creationId xmlns:p14="http://schemas.microsoft.com/office/powerpoint/2010/main" val="196405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170462"/>
            <a:ext cx="11379200" cy="495377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TW"/>
              <a:t>Content goes here (20pt)</a:t>
            </a:r>
            <a:endParaRPr 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440356"/>
            <a:ext cx="11379200" cy="679396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Page Title Goes Here (28-32pt)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8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Page Title Goes Here (28-32pt)</a:t>
            </a:r>
            <a:endParaRPr lang="en-US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pic>
        <p:nvPicPr>
          <p:cNvPr id="23" name="圖片 2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16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0993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/>
              <a:t>Smarter. Greener. Together. </a:t>
            </a:r>
            <a:br>
              <a:rPr lang="en-US"/>
            </a:br>
            <a:endParaRPr lang="en-US"/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38C78CAC-0A95-4D70-9EAA-CE96A16F9E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370" y="60183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/>
              <a:t>Ending </a:t>
            </a:r>
            <a:r>
              <a:rPr lang="en-US" altLang="zh-TW" err="1"/>
              <a:t>Page_White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848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B392DE6-2AF2-4E28-AF03-1A4F3D15BEAE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3" name="矩形 52"/>
          <p:cNvSpPr/>
          <p:nvPr userDrawn="1"/>
        </p:nvSpPr>
        <p:spPr>
          <a:xfrm>
            <a:off x="0" y="-1"/>
            <a:ext cx="12192000" cy="483188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BE8868F-CA4D-431A-BCA3-79708C4A93CC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E5238164-92D2-4070-B189-8D969D4D4C1C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D4CBB22-8F55-4813-A361-6B31616CEFC5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AE6129C-E538-40C6-95CE-8D689DA806C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42DF3C8-6F17-4F9B-8224-82E6BF529D75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CA03870D-CA4E-4A68-B643-C828AB156380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04627FC-9E22-4DF5-9620-E588D5B1D754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FFB4E0B-7913-4DBA-B9BC-22815DD1E9F5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E6EA7B8-B405-4A2B-8F6C-66644CA26469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31D023A-8171-4D62-AD85-A3E51BEECBC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8F6B22F-DD93-4EC4-8E97-7E5A61686F3E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8833C97-6D6E-40FC-976A-CF4C2B0848D9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D3716C8-CA0D-4806-A013-3F0E791C886C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B57F906-7144-4062-914D-703110CC17BF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09D68DFB-0813-4C3A-8CE7-03C842C11ED7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E8DE291-898F-4470-A37E-2D3C217EDD2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7A1C886-D4A7-40F8-BEDF-DE906366403B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 txBox="1">
            <a:spLocks/>
          </p:cNvSpPr>
          <p:nvPr userDrawn="1"/>
        </p:nvSpPr>
        <p:spPr>
          <a:xfrm>
            <a:off x="376089" y="5152426"/>
            <a:ext cx="9144000" cy="1212111"/>
          </a:xfrm>
          <a:prstGeom prst="rect">
            <a:avLst/>
          </a:prstGeom>
        </p:spPr>
        <p:txBody>
          <a:bodyPr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400" b="0">
                <a:solidFill>
                  <a:schemeClr val="tx1"/>
                </a:solidFill>
                <a:latin typeface="+mn-lt"/>
              </a:rPr>
              <a:t>Smarter. Greener. Together. </a:t>
            </a:r>
            <a:br>
              <a:rPr lang="en-US" altLang="zh-TW" sz="4400" b="0">
                <a:solidFill>
                  <a:schemeClr val="tx1"/>
                </a:solidFill>
                <a:latin typeface="+mn-lt"/>
              </a:rPr>
            </a:br>
            <a:endParaRPr lang="en-US" sz="4400" b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3" name="圖片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101" y="5475968"/>
            <a:ext cx="2814118" cy="1276115"/>
          </a:xfrm>
          <a:prstGeom prst="rect">
            <a:avLst/>
          </a:prstGeom>
        </p:spPr>
      </p:pic>
      <p:sp>
        <p:nvSpPr>
          <p:cNvPr id="55" name="圖片版面配置區 6">
            <a:extLst>
              <a:ext uri="{FF2B5EF4-FFF2-40B4-BE49-F238E27FC236}">
                <a16:creationId xmlns:a16="http://schemas.microsoft.com/office/drawing/2014/main" id="{BEC39B5C-7A19-45E5-87B6-A4D4ACE913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588" y="-12701"/>
            <a:ext cx="12192001" cy="471393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altLang="zh-TW"/>
              <a:t>     Ending </a:t>
            </a:r>
            <a:r>
              <a:rPr lang="en-US" altLang="zh-TW" err="1"/>
              <a:t>Page_Image</a:t>
            </a:r>
            <a:r>
              <a:rPr lang="en-US" altLang="zh-TW"/>
              <a:t>: </a:t>
            </a:r>
            <a:br>
              <a:rPr lang="en-US" altLang="zh-TW"/>
            </a:br>
            <a:r>
              <a:rPr lang="en-US" altLang="zh-TW"/>
              <a:t>      A corporate-level, sector-level or product-level brand communication imagery can be applied in this gray area.</a:t>
            </a:r>
          </a:p>
          <a:p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-1200" y="4701237"/>
            <a:ext cx="12193200" cy="144000"/>
            <a:chOff x="22799" y="4912990"/>
            <a:chExt cx="12193200" cy="144000"/>
          </a:xfrm>
        </p:grpSpPr>
        <p:sp>
          <p:nvSpPr>
            <p:cNvPr id="2" name="矩形 1"/>
            <p:cNvSpPr/>
            <p:nvPr userDrawn="1"/>
          </p:nvSpPr>
          <p:spPr>
            <a:xfrm>
              <a:off x="22799" y="4912990"/>
              <a:ext cx="12193200" cy="14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9767999" y="4912990"/>
              <a:ext cx="2448000" cy="144000"/>
            </a:xfrm>
            <a:prstGeom prst="rect">
              <a:avLst/>
            </a:prstGeom>
            <a:solidFill>
              <a:srgbClr val="B9EB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7323672" y="4912990"/>
              <a:ext cx="2448000" cy="144000"/>
            </a:xfrm>
            <a:prstGeom prst="rect">
              <a:avLst/>
            </a:prstGeom>
            <a:solidFill>
              <a:srgbClr val="64D7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056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/>
              <a:t>Page Title Goes Here (32pt)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2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/>
              <a:t>Content goes here (24pt)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7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MM/DD/YYYY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u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Name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2" y="6191968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1BD21A8-5E88-4AE4-993C-2D76760CA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9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42" r:id="rId2"/>
    <p:sldLayoutId id="2147483741" r:id="rId3"/>
    <p:sldLayoutId id="2147483737" r:id="rId4"/>
    <p:sldLayoutId id="2147483738" r:id="rId5"/>
    <p:sldLayoutId id="2147483740" r:id="rId6"/>
    <p:sldLayoutId id="2147483739" r:id="rId7"/>
  </p:sldLayoutIdLst>
  <p:hf hdr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sz="4000"/>
              <a:t>Delta Intelligent Smart Screw System </a:t>
            </a:r>
            <a:br>
              <a:rPr lang="en-US" sz="4000"/>
            </a:br>
            <a:r>
              <a:rPr lang="en-US" sz="1800"/>
              <a:t>Version 25.07</a:t>
            </a:r>
            <a:endParaRPr lang="en-US" sz="4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06B2E-4192-0951-111D-C446DF84881F}"/>
              </a:ext>
            </a:extLst>
          </p:cNvPr>
          <p:cNvSpPr txBox="1"/>
          <p:nvPr/>
        </p:nvSpPr>
        <p:spPr>
          <a:xfrm>
            <a:off x="896647" y="5743852"/>
            <a:ext cx="1775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DET-AMBU</a:t>
            </a:r>
          </a:p>
        </p:txBody>
      </p:sp>
    </p:spTree>
    <p:extLst>
      <p:ext uri="{BB962C8B-B14F-4D97-AF65-F5344CB8AC3E}">
        <p14:creationId xmlns:p14="http://schemas.microsoft.com/office/powerpoint/2010/main" val="3789460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77C819-D01E-F7A1-F4C9-836F35E0A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601" y="810638"/>
            <a:ext cx="9195209" cy="5473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507D3B-8436-03B9-B2DC-210D53FA1ACC}"/>
              </a:ext>
            </a:extLst>
          </p:cNvPr>
          <p:cNvSpPr txBox="1"/>
          <p:nvPr/>
        </p:nvSpPr>
        <p:spPr>
          <a:xfrm>
            <a:off x="239697" y="150920"/>
            <a:ext cx="11818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87DC"/>
                </a:solidFill>
              </a:rPr>
              <a:t>Smart screw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4707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D5FC5D-4755-6E22-AD5D-C6AA9FE7E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63" y="144039"/>
            <a:ext cx="11130293" cy="563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3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F7C85-CC5B-8FF1-3CF1-C48F55AB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73983"/>
            <a:ext cx="11379200" cy="679396"/>
          </a:xfrm>
        </p:spPr>
        <p:txBody>
          <a:bodyPr/>
          <a:lstStyle/>
          <a:p>
            <a:r>
              <a:rPr lang="en-US" dirty="0"/>
              <a:t>Software of Smart screw System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CE9444-50C8-E1D8-33E9-2F2C1C2701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34767" y="1432451"/>
            <a:ext cx="7618336" cy="41519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81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8ADB0C03-3443-9586-A67D-F6B3AA0C1C65}"/>
              </a:ext>
            </a:extLst>
          </p:cNvPr>
          <p:cNvCxnSpPr>
            <a:cxnSpLocks/>
            <a:endCxn id="15" idx="3"/>
          </p:cNvCxnSpPr>
          <p:nvPr/>
        </p:nvCxnSpPr>
        <p:spPr>
          <a:xfrm rot="5400000">
            <a:off x="2105493" y="4133945"/>
            <a:ext cx="2189823" cy="1698180"/>
          </a:xfrm>
          <a:prstGeom prst="curvedConnector2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6B7F83-6933-4612-1720-315EE5B4DCAF}"/>
              </a:ext>
            </a:extLst>
          </p:cNvPr>
          <p:cNvSpPr/>
          <p:nvPr/>
        </p:nvSpPr>
        <p:spPr>
          <a:xfrm>
            <a:off x="130629" y="5738249"/>
            <a:ext cx="2220685" cy="67939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chemeClr val="bg2"/>
                </a:solidFill>
              </a:rPr>
              <a:t>Product Navigate</a:t>
            </a:r>
            <a:br>
              <a:rPr lang="en-US" sz="1050">
                <a:solidFill>
                  <a:schemeClr val="bg2"/>
                </a:solidFill>
              </a:rPr>
            </a:br>
            <a:r>
              <a:rPr lang="en-US" sz="1050">
                <a:solidFill>
                  <a:schemeClr val="bg2"/>
                </a:solidFill>
              </a:rPr>
              <a:t>Show points and sequence control follow OI</a:t>
            </a:r>
          </a:p>
          <a:p>
            <a:endParaRPr lang="en-US" sz="1050">
              <a:solidFill>
                <a:schemeClr val="bg2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F155A7-1937-F5E1-0F2D-1D6852424560}"/>
              </a:ext>
            </a:extLst>
          </p:cNvPr>
          <p:cNvSpPr/>
          <p:nvPr/>
        </p:nvSpPr>
        <p:spPr>
          <a:xfrm>
            <a:off x="9238707" y="4866616"/>
            <a:ext cx="2225871" cy="62927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chemeClr val="bg2"/>
                </a:solidFill>
              </a:rPr>
              <a:t>Sequence Control </a:t>
            </a:r>
            <a:br>
              <a:rPr lang="en-US" sz="1050">
                <a:solidFill>
                  <a:schemeClr val="bg2"/>
                </a:solidFill>
              </a:rPr>
            </a:br>
            <a:r>
              <a:rPr lang="en-US" sz="1050">
                <a:solidFill>
                  <a:schemeClr val="bg2"/>
                </a:solidFill>
              </a:rPr>
              <a:t>Parameter tightening control and recording tightening results.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D070E64-10BF-D8B3-C267-523A4AB31FB4}"/>
              </a:ext>
            </a:extLst>
          </p:cNvPr>
          <p:cNvSpPr/>
          <p:nvPr/>
        </p:nvSpPr>
        <p:spPr>
          <a:xfrm>
            <a:off x="9238707" y="3663063"/>
            <a:ext cx="2333448" cy="57174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chemeClr val="bg2"/>
                </a:solidFill>
              </a:rPr>
              <a:t>Line Chart</a:t>
            </a:r>
            <a:br>
              <a:rPr lang="en-US" sz="1050">
                <a:solidFill>
                  <a:schemeClr val="bg2"/>
                </a:solidFill>
              </a:rPr>
            </a:br>
            <a:r>
              <a:rPr lang="en-US" sz="1050">
                <a:solidFill>
                  <a:schemeClr val="bg2"/>
                </a:solidFill>
              </a:rPr>
              <a:t>show torque/time, torque rate/ time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C06F6EF-8DE2-5C1A-F84C-30C1F2A5133E}"/>
              </a:ext>
            </a:extLst>
          </p:cNvPr>
          <p:cNvSpPr/>
          <p:nvPr/>
        </p:nvSpPr>
        <p:spPr>
          <a:xfrm>
            <a:off x="9207971" y="2620988"/>
            <a:ext cx="2333448" cy="79191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bg2"/>
                </a:solidFill>
              </a:rPr>
              <a:t>Smart Screw &amp; ARM display</a:t>
            </a:r>
            <a:br>
              <a:rPr lang="en-US" sz="1050" dirty="0">
                <a:solidFill>
                  <a:schemeClr val="bg2"/>
                </a:solidFill>
              </a:rPr>
            </a:br>
            <a:r>
              <a:rPr lang="en-US" sz="1050" dirty="0">
                <a:solidFill>
                  <a:schemeClr val="bg2"/>
                </a:solidFill>
              </a:rPr>
              <a:t>show smart screw connection status and tightening results and show coordinate ARM position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356BFD4-9524-3192-A427-D2DDB1F0AC81}"/>
              </a:ext>
            </a:extLst>
          </p:cNvPr>
          <p:cNvSpPr/>
          <p:nvPr/>
        </p:nvSpPr>
        <p:spPr>
          <a:xfrm>
            <a:off x="9207971" y="1984397"/>
            <a:ext cx="2333448" cy="5108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>
                <a:solidFill>
                  <a:schemeClr val="bg2"/>
                </a:solidFill>
              </a:rPr>
              <a:t>PQM &amp; MES &amp; DIASSA</a:t>
            </a:r>
            <a:br>
              <a:rPr lang="en-US" sz="1050">
                <a:solidFill>
                  <a:schemeClr val="bg2"/>
                </a:solidFill>
              </a:rPr>
            </a:br>
            <a:r>
              <a:rPr lang="en-US" sz="1050">
                <a:solidFill>
                  <a:schemeClr val="bg2"/>
                </a:solidFill>
              </a:rPr>
              <a:t>Upload PQM, MES, DIASSA</a:t>
            </a:r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AF90F0F9-4DC6-52F9-3F17-CC8A17685A02}"/>
              </a:ext>
            </a:extLst>
          </p:cNvPr>
          <p:cNvCxnSpPr>
            <a:cxnSpLocks/>
            <a:endCxn id="44" idx="2"/>
          </p:cNvCxnSpPr>
          <p:nvPr/>
        </p:nvCxnSpPr>
        <p:spPr>
          <a:xfrm rot="5400000" flipH="1" flipV="1">
            <a:off x="2427315" y="1795268"/>
            <a:ext cx="825129" cy="85783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BB48FD-492D-0436-21EF-FC470246E34F}"/>
              </a:ext>
            </a:extLst>
          </p:cNvPr>
          <p:cNvSpPr/>
          <p:nvPr/>
        </p:nvSpPr>
        <p:spPr>
          <a:xfrm>
            <a:off x="1716047" y="914770"/>
            <a:ext cx="2333448" cy="5108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>
                <a:solidFill>
                  <a:schemeClr val="bg2"/>
                </a:solidFill>
              </a:rPr>
              <a:t>Realtime &amp; Status bar</a:t>
            </a:r>
            <a:br>
              <a:rPr lang="en-US" sz="1050">
                <a:solidFill>
                  <a:schemeClr val="bg2"/>
                </a:solidFill>
              </a:rPr>
            </a:br>
            <a:r>
              <a:rPr lang="en-US" sz="1050">
                <a:solidFill>
                  <a:schemeClr val="bg2"/>
                </a:solidFill>
              </a:rPr>
              <a:t>Show serial number, current step and status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DFAD697-4183-22FB-0B1E-EBBADF293B90}"/>
              </a:ext>
            </a:extLst>
          </p:cNvPr>
          <p:cNvCxnSpPr>
            <a:cxnSpLocks/>
          </p:cNvCxnSpPr>
          <p:nvPr/>
        </p:nvCxnSpPr>
        <p:spPr>
          <a:xfrm flipV="1">
            <a:off x="7929923" y="2118482"/>
            <a:ext cx="1278048" cy="10915"/>
          </a:xfrm>
          <a:prstGeom prst="straightConnector1">
            <a:avLst/>
          </a:prstGeom>
          <a:ln w="19050">
            <a:prstDash val="dash"/>
            <a:headEnd type="oval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C05F7F2-1878-6755-BED4-215A48D01650}"/>
              </a:ext>
            </a:extLst>
          </p:cNvPr>
          <p:cNvCxnSpPr/>
          <p:nvPr/>
        </p:nvCxnSpPr>
        <p:spPr>
          <a:xfrm flipV="1">
            <a:off x="7929923" y="2799865"/>
            <a:ext cx="1278048" cy="10915"/>
          </a:xfrm>
          <a:prstGeom prst="straightConnector1">
            <a:avLst/>
          </a:prstGeom>
          <a:ln w="19050">
            <a:prstDash val="dash"/>
            <a:headEnd type="oval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FB142DC-AAFD-3F19-41B2-69D2A6B15A15}"/>
              </a:ext>
            </a:extLst>
          </p:cNvPr>
          <p:cNvCxnSpPr/>
          <p:nvPr/>
        </p:nvCxnSpPr>
        <p:spPr>
          <a:xfrm flipV="1">
            <a:off x="7960659" y="3781651"/>
            <a:ext cx="1278048" cy="10915"/>
          </a:xfrm>
          <a:prstGeom prst="straightConnector1">
            <a:avLst/>
          </a:prstGeom>
          <a:ln w="19050">
            <a:prstDash val="dash"/>
            <a:headEnd type="oval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685010-A17F-69B2-5D62-96EB119FFED5}"/>
              </a:ext>
            </a:extLst>
          </p:cNvPr>
          <p:cNvCxnSpPr/>
          <p:nvPr/>
        </p:nvCxnSpPr>
        <p:spPr>
          <a:xfrm flipV="1">
            <a:off x="7960659" y="4983035"/>
            <a:ext cx="1278048" cy="10915"/>
          </a:xfrm>
          <a:prstGeom prst="straightConnector1">
            <a:avLst/>
          </a:prstGeom>
          <a:ln w="19050">
            <a:prstDash val="dash"/>
            <a:headEnd type="oval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95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3A587C-70A3-4F5A-5D03-B18C0A043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84" y="0"/>
            <a:ext cx="11171632" cy="62683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564EF6-41B8-8C72-1026-198E2F9E65DA}"/>
              </a:ext>
            </a:extLst>
          </p:cNvPr>
          <p:cNvSpPr/>
          <p:nvPr/>
        </p:nvSpPr>
        <p:spPr>
          <a:xfrm>
            <a:off x="10353964" y="5689600"/>
            <a:ext cx="1327852" cy="6650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35786D-197F-C0A2-C30A-BE2034AF22AF}"/>
              </a:ext>
            </a:extLst>
          </p:cNvPr>
          <p:cNvSpPr/>
          <p:nvPr/>
        </p:nvSpPr>
        <p:spPr>
          <a:xfrm>
            <a:off x="604982" y="5842000"/>
            <a:ext cx="1327852" cy="6650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1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9697" y="150920"/>
            <a:ext cx="11563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87DC"/>
                </a:solidFill>
              </a:rPr>
              <a:t>Smart screw structure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933215-EF3B-CBE3-ACEC-8244DF837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10" y="866586"/>
            <a:ext cx="12107965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3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A7E63A-CE23-B666-CB15-610682C46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59549"/>
              </p:ext>
            </p:extLst>
          </p:nvPr>
        </p:nvGraphicFramePr>
        <p:xfrm>
          <a:off x="102527" y="701193"/>
          <a:ext cx="12021275" cy="557172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366339704"/>
                    </a:ext>
                  </a:extLst>
                </a:gridCol>
                <a:gridCol w="1222204">
                  <a:extLst>
                    <a:ext uri="{9D8B030D-6E8A-4147-A177-3AD203B41FA5}">
                      <a16:colId xmlns:a16="http://schemas.microsoft.com/office/drawing/2014/main" val="3390521995"/>
                    </a:ext>
                  </a:extLst>
                </a:gridCol>
                <a:gridCol w="1307593">
                  <a:extLst>
                    <a:ext uri="{9D8B030D-6E8A-4147-A177-3AD203B41FA5}">
                      <a16:colId xmlns:a16="http://schemas.microsoft.com/office/drawing/2014/main" val="942185591"/>
                    </a:ext>
                  </a:extLst>
                </a:gridCol>
                <a:gridCol w="1307593">
                  <a:extLst>
                    <a:ext uri="{9D8B030D-6E8A-4147-A177-3AD203B41FA5}">
                      <a16:colId xmlns:a16="http://schemas.microsoft.com/office/drawing/2014/main" val="3694477656"/>
                    </a:ext>
                  </a:extLst>
                </a:gridCol>
                <a:gridCol w="1307593">
                  <a:extLst>
                    <a:ext uri="{9D8B030D-6E8A-4147-A177-3AD203B41FA5}">
                      <a16:colId xmlns:a16="http://schemas.microsoft.com/office/drawing/2014/main" val="193915491"/>
                    </a:ext>
                  </a:extLst>
                </a:gridCol>
                <a:gridCol w="1307593">
                  <a:extLst>
                    <a:ext uri="{9D8B030D-6E8A-4147-A177-3AD203B41FA5}">
                      <a16:colId xmlns:a16="http://schemas.microsoft.com/office/drawing/2014/main" val="2072573115"/>
                    </a:ext>
                  </a:extLst>
                </a:gridCol>
                <a:gridCol w="1307593">
                  <a:extLst>
                    <a:ext uri="{9D8B030D-6E8A-4147-A177-3AD203B41FA5}">
                      <a16:colId xmlns:a16="http://schemas.microsoft.com/office/drawing/2014/main" val="3393666250"/>
                    </a:ext>
                  </a:extLst>
                </a:gridCol>
                <a:gridCol w="1307593">
                  <a:extLst>
                    <a:ext uri="{9D8B030D-6E8A-4147-A177-3AD203B41FA5}">
                      <a16:colId xmlns:a16="http://schemas.microsoft.com/office/drawing/2014/main" val="344944225"/>
                    </a:ext>
                  </a:extLst>
                </a:gridCol>
                <a:gridCol w="1307593">
                  <a:extLst>
                    <a:ext uri="{9D8B030D-6E8A-4147-A177-3AD203B41FA5}">
                      <a16:colId xmlns:a16="http://schemas.microsoft.com/office/drawing/2014/main" val="943203698"/>
                    </a:ext>
                  </a:extLst>
                </a:gridCol>
              </a:tblGrid>
              <a:tr h="60348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Type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A+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C+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D+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810408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743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Non-touch screw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1616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Solution function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Direct shoot screw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Direct shoot screw &amp;tool change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Direct shoot screw (magnet)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Direct shoot screw (Magnet Tool change)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Pick screw (magnet)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Pick screw (Vacuum)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Pick screw (Vacuum Tool change)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Pick screw (magnet Top &amp; Front screw)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7923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Delta smart screw </a:t>
                      </a:r>
                    </a:p>
                    <a:p>
                      <a:pPr algn="ctr"/>
                      <a:r>
                        <a:rPr lang="en-US" sz="1400"/>
                        <a:t>system (DIASSA)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2440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Arm sequent control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486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Multi screw type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1-3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1-3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1-3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1-3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1-3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9670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Function drop detection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微軟正黑體"/>
                          <a:cs typeface="+mn-cs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</a:rPr>
                        <a:t>NO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微軟正黑體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8698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637CBA7-5C52-6FEC-3FE4-01723E636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917" y="1544656"/>
            <a:ext cx="1252819" cy="1063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C17E71-7D4D-1704-AC50-799072AB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190" y="1501986"/>
            <a:ext cx="884428" cy="14612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DCD074-6273-61B3-E9D2-D2FCCDBB4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347" y="1501986"/>
            <a:ext cx="1061990" cy="14512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01FE8A-9AA7-6CC1-051B-FFEDF01391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603" r="23836"/>
          <a:stretch/>
        </p:blipFill>
        <p:spPr>
          <a:xfrm>
            <a:off x="4374841" y="1511285"/>
            <a:ext cx="1107634" cy="14512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7F733A-9F2F-D915-C3AE-8145EC8C8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7074" y="1316073"/>
            <a:ext cx="246754" cy="14512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DCD6BA-18B8-563C-3356-C02DAFC1EF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111" t="25603" r="34678"/>
          <a:stretch/>
        </p:blipFill>
        <p:spPr>
          <a:xfrm>
            <a:off x="6171941" y="1544656"/>
            <a:ext cx="599320" cy="145124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1DEA28-DB20-3BA6-4AF2-46E300566022}"/>
              </a:ext>
            </a:extLst>
          </p:cNvPr>
          <p:cNvSpPr txBox="1"/>
          <p:nvPr/>
        </p:nvSpPr>
        <p:spPr>
          <a:xfrm>
            <a:off x="176414" y="63885"/>
            <a:ext cx="11839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Smart screw module </a:t>
            </a:r>
          </a:p>
        </p:txBody>
      </p:sp>
      <p:pic>
        <p:nvPicPr>
          <p:cNvPr id="25" name="图片 56">
            <a:extLst>
              <a:ext uri="{FF2B5EF4-FFF2-40B4-BE49-F238E27FC236}">
                <a16:creationId xmlns:a16="http://schemas.microsoft.com/office/drawing/2014/main" id="{56272EEC-84AF-E93C-15D1-EE3653E401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3157" t="46359"/>
          <a:stretch/>
        </p:blipFill>
        <p:spPr>
          <a:xfrm>
            <a:off x="5666932" y="2369348"/>
            <a:ext cx="517432" cy="795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896330-9169-E225-30E2-7BFC61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039" y="1350555"/>
            <a:ext cx="495964" cy="17208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84C48C-70E6-D08A-649A-42B62F35B3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5860" y="1350555"/>
            <a:ext cx="453940" cy="16644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E18FF4-AFA6-2889-12C5-4CBFBF2367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1433" y="2298718"/>
            <a:ext cx="756795" cy="762125"/>
          </a:xfrm>
          <a:prstGeom prst="rect">
            <a:avLst/>
          </a:prstGeom>
        </p:spPr>
      </p:pic>
      <p:pic>
        <p:nvPicPr>
          <p:cNvPr id="2" name="Picture 1" descr="A silver machine with a digital display&#10;&#10;AI-generated content may be incorrect.">
            <a:extLst>
              <a:ext uri="{FF2B5EF4-FFF2-40B4-BE49-F238E27FC236}">
                <a16:creationId xmlns:a16="http://schemas.microsoft.com/office/drawing/2014/main" id="{4CD2C0EF-116B-D068-056A-66562442EA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0400" y="2297206"/>
            <a:ext cx="654424" cy="667871"/>
          </a:xfrm>
          <a:prstGeom prst="rect">
            <a:avLst/>
          </a:prstGeom>
        </p:spPr>
      </p:pic>
      <p:pic>
        <p:nvPicPr>
          <p:cNvPr id="4" name="Picture 3" descr="A silver machine with a digital display&#10;&#10;AI-generated content may be incorrect.">
            <a:extLst>
              <a:ext uri="{FF2B5EF4-FFF2-40B4-BE49-F238E27FC236}">
                <a16:creationId xmlns:a16="http://schemas.microsoft.com/office/drawing/2014/main" id="{68D4BD4A-926B-CC4D-A78A-5835E958BF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7976" y="2395817"/>
            <a:ext cx="654424" cy="667871"/>
          </a:xfrm>
          <a:prstGeom prst="rect">
            <a:avLst/>
          </a:prstGeom>
        </p:spPr>
      </p:pic>
      <p:pic>
        <p:nvPicPr>
          <p:cNvPr id="7" name="Picture 6" descr="A black and grey machine&#10;&#10;AI-generated content may be incorrect.">
            <a:extLst>
              <a:ext uri="{FF2B5EF4-FFF2-40B4-BE49-F238E27FC236}">
                <a16:creationId xmlns:a16="http://schemas.microsoft.com/office/drawing/2014/main" id="{F81AEA1E-4132-F9A9-BAFF-C3E5872CF2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28555" y="1353670"/>
            <a:ext cx="730044" cy="1721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EB046F-553A-7B9E-0064-66BA790FB9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6900" y="1353671"/>
            <a:ext cx="1280718" cy="164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47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F286B2-5B8B-F7C6-7F14-4231BA41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72" r="93" b="187"/>
          <a:stretch>
            <a:fillRect/>
          </a:stretch>
        </p:blipFill>
        <p:spPr>
          <a:xfrm>
            <a:off x="427513" y="1295619"/>
            <a:ext cx="11336973" cy="4044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37D472-2BB9-8B2F-AC0A-64CFE12571ED}"/>
              </a:ext>
            </a:extLst>
          </p:cNvPr>
          <p:cNvSpPr txBox="1"/>
          <p:nvPr/>
        </p:nvSpPr>
        <p:spPr>
          <a:xfrm>
            <a:off x="0" y="11175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87DC"/>
                </a:solidFill>
              </a:rPr>
              <a:t>Application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75199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ABB99-FE75-C29B-CD5C-7C0BB34F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55E730-2C16-DB28-C9FA-E7F1AB2EF88A}"/>
              </a:ext>
            </a:extLst>
          </p:cNvPr>
          <p:cNvSpPr txBox="1"/>
          <p:nvPr/>
        </p:nvSpPr>
        <p:spPr>
          <a:xfrm>
            <a:off x="0" y="11175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87DC"/>
                </a:solidFill>
              </a:rPr>
              <a:t>Delta Swing Torque arm dimension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CB081-C587-E113-546A-CF9CA7FF9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81" y="661465"/>
            <a:ext cx="8619003" cy="3318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81A9DB-90D2-A95D-0304-76E5E37B0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715" y="4158748"/>
            <a:ext cx="3785689" cy="2587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88ACBC-847C-90E7-D334-40C614C49F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7"/>
          <a:stretch>
            <a:fillRect/>
          </a:stretch>
        </p:blipFill>
        <p:spPr>
          <a:xfrm>
            <a:off x="6647562" y="4492379"/>
            <a:ext cx="5401429" cy="17041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4337518-C452-8E35-E294-F7F51691ADE1}"/>
              </a:ext>
            </a:extLst>
          </p:cNvPr>
          <p:cNvSpPr/>
          <p:nvPr/>
        </p:nvSpPr>
        <p:spPr>
          <a:xfrm>
            <a:off x="8348472" y="4645152"/>
            <a:ext cx="1014984" cy="192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Swing 450</a:t>
            </a:r>
            <a:endParaRPr lang="en-AI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16775-2965-8439-DF10-BBF9D177F929}"/>
              </a:ext>
            </a:extLst>
          </p:cNvPr>
          <p:cNvSpPr/>
          <p:nvPr/>
        </p:nvSpPr>
        <p:spPr>
          <a:xfrm>
            <a:off x="9607296" y="4645152"/>
            <a:ext cx="1014984" cy="192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Swing 650</a:t>
            </a:r>
            <a:endParaRPr lang="en-AI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053A02-B565-6111-CEAC-96E0AABB4840}"/>
              </a:ext>
            </a:extLst>
          </p:cNvPr>
          <p:cNvSpPr/>
          <p:nvPr/>
        </p:nvSpPr>
        <p:spPr>
          <a:xfrm>
            <a:off x="10930128" y="4645152"/>
            <a:ext cx="1014984" cy="192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Swing 950</a:t>
            </a:r>
            <a:endParaRPr lang="en-AI" sz="1400" dirty="0"/>
          </a:p>
        </p:txBody>
      </p:sp>
    </p:spTree>
    <p:extLst>
      <p:ext uri="{BB962C8B-B14F-4D97-AF65-F5344CB8AC3E}">
        <p14:creationId xmlns:p14="http://schemas.microsoft.com/office/powerpoint/2010/main" val="268017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7A9B60-262D-2282-68A5-D9BFB7AB1329}"/>
              </a:ext>
            </a:extLst>
          </p:cNvPr>
          <p:cNvSpPr txBox="1"/>
          <p:nvPr/>
        </p:nvSpPr>
        <p:spPr>
          <a:xfrm>
            <a:off x="0" y="11175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87DC"/>
                </a:solidFill>
              </a:rPr>
              <a:t>Delta Slide Torque arm dimension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E4466-1193-B675-E232-76CE87B7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81" y="661465"/>
            <a:ext cx="8619003" cy="33181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23063E-B35E-82A8-6EC4-77794B7B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562" y="4481796"/>
            <a:ext cx="5401429" cy="1714739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9C9E900-0ED6-4567-0C60-4BD33E9C2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113" y="1664899"/>
            <a:ext cx="1614578" cy="1621766"/>
          </a:xfrm>
          <a:prstGeom prst="ellipse">
            <a:avLst/>
          </a:prstGeom>
          <a:ln w="3175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CBA04EE-A03C-B987-A8D9-25E824420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973" y="3954531"/>
            <a:ext cx="3683479" cy="247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967375-7121-1628-D902-E0FFF3C24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05145"/>
              </p:ext>
            </p:extLst>
          </p:nvPr>
        </p:nvGraphicFramePr>
        <p:xfrm>
          <a:off x="5084611" y="4481796"/>
          <a:ext cx="6964380" cy="1714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876">
                  <a:extLst>
                    <a:ext uri="{9D8B030D-6E8A-4147-A177-3AD203B41FA5}">
                      <a16:colId xmlns:a16="http://schemas.microsoft.com/office/drawing/2014/main" val="3288182493"/>
                    </a:ext>
                  </a:extLst>
                </a:gridCol>
                <a:gridCol w="1392876">
                  <a:extLst>
                    <a:ext uri="{9D8B030D-6E8A-4147-A177-3AD203B41FA5}">
                      <a16:colId xmlns:a16="http://schemas.microsoft.com/office/drawing/2014/main" val="339261280"/>
                    </a:ext>
                  </a:extLst>
                </a:gridCol>
                <a:gridCol w="1392876">
                  <a:extLst>
                    <a:ext uri="{9D8B030D-6E8A-4147-A177-3AD203B41FA5}">
                      <a16:colId xmlns:a16="http://schemas.microsoft.com/office/drawing/2014/main" val="2872790841"/>
                    </a:ext>
                  </a:extLst>
                </a:gridCol>
                <a:gridCol w="1392876">
                  <a:extLst>
                    <a:ext uri="{9D8B030D-6E8A-4147-A177-3AD203B41FA5}">
                      <a16:colId xmlns:a16="http://schemas.microsoft.com/office/drawing/2014/main" val="3850014998"/>
                    </a:ext>
                  </a:extLst>
                </a:gridCol>
                <a:gridCol w="1392876">
                  <a:extLst>
                    <a:ext uri="{9D8B030D-6E8A-4147-A177-3AD203B41FA5}">
                      <a16:colId xmlns:a16="http://schemas.microsoft.com/office/drawing/2014/main" val="1885234911"/>
                    </a:ext>
                  </a:extLst>
                </a:gridCol>
              </a:tblGrid>
              <a:tr h="446604">
                <a:tc>
                  <a:txBody>
                    <a:bodyPr/>
                    <a:lstStyle/>
                    <a:p>
                      <a:pPr algn="ctr"/>
                      <a:r>
                        <a:rPr lang="en-US" sz="1050" b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Slide 450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Slide 650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Slide 1000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Slide 1250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325601"/>
                  </a:ext>
                </a:extLst>
              </a:tr>
              <a:tr h="402495">
                <a:tc>
                  <a:txBody>
                    <a:bodyPr/>
                    <a:lstStyle/>
                    <a:p>
                      <a:pPr marL="228600" indent="-228600" algn="ctr" rtl="0" eaLnBrk="1" fontAlgn="b" latinLnBrk="0" hangingPunct="1">
                        <a:buFont typeface="Arial" panose="020B0604020202020204" pitchFamily="34" charset="0"/>
                        <a:buAutoNum type="alphaUcPeriod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Tool Ø (mm)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28-52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28-52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28-52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28-52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986942"/>
                  </a:ext>
                </a:extLst>
              </a:tr>
              <a:tr h="463145"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B. Stroke(mm)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450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1250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581105"/>
                  </a:ext>
                </a:extLst>
              </a:tr>
              <a:tr h="402495"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C. Max load(Kg)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100" dirty="0"/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930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26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218B79-705C-812E-DEE0-F62F296EC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6" y="1591484"/>
            <a:ext cx="4676295" cy="36750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D1C082-0B30-4DB3-380C-69DE14C24467}"/>
              </a:ext>
            </a:extLst>
          </p:cNvPr>
          <p:cNvSpPr txBox="1"/>
          <p:nvPr/>
        </p:nvSpPr>
        <p:spPr>
          <a:xfrm>
            <a:off x="0" y="11175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87DC"/>
                </a:solidFill>
              </a:rPr>
              <a:t>Workspace simulation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E9CC03-F628-1507-9664-0A89DB342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858" y="1591483"/>
            <a:ext cx="3935523" cy="3675032"/>
          </a:xfrm>
          <a:prstGeom prst="rect">
            <a:avLst/>
          </a:prstGeom>
        </p:spPr>
      </p:pic>
      <p:sp>
        <p:nvSpPr>
          <p:cNvPr id="7" name="Partial Circle 6">
            <a:extLst>
              <a:ext uri="{FF2B5EF4-FFF2-40B4-BE49-F238E27FC236}">
                <a16:creationId xmlns:a16="http://schemas.microsoft.com/office/drawing/2014/main" id="{F34779F8-7462-A432-EB11-C2741F35EC4F}"/>
              </a:ext>
            </a:extLst>
          </p:cNvPr>
          <p:cNvSpPr/>
          <p:nvPr/>
        </p:nvSpPr>
        <p:spPr>
          <a:xfrm>
            <a:off x="775857" y="1025236"/>
            <a:ext cx="6949440" cy="6949440"/>
          </a:xfrm>
          <a:prstGeom prst="pie">
            <a:avLst>
              <a:gd name="adj1" fmla="val 10831727"/>
              <a:gd name="adj2" fmla="val 16200000"/>
            </a:avLst>
          </a:prstGeom>
          <a:solidFill>
            <a:srgbClr val="FFBCBB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BC104C-9842-D1EF-9481-0B54C3816FED}"/>
              </a:ext>
            </a:extLst>
          </p:cNvPr>
          <p:cNvSpPr/>
          <p:nvPr/>
        </p:nvSpPr>
        <p:spPr>
          <a:xfrm>
            <a:off x="4067697" y="4298604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F4B93E-FA74-0721-B8D1-95B23F4D524C}"/>
              </a:ext>
            </a:extLst>
          </p:cNvPr>
          <p:cNvSpPr/>
          <p:nvPr/>
        </p:nvSpPr>
        <p:spPr>
          <a:xfrm>
            <a:off x="9092739" y="3063239"/>
            <a:ext cx="365760" cy="3657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29426-E36F-0112-2E65-9AC91E34B249}"/>
              </a:ext>
            </a:extLst>
          </p:cNvPr>
          <p:cNvSpPr txBox="1"/>
          <p:nvPr/>
        </p:nvSpPr>
        <p:spPr>
          <a:xfrm>
            <a:off x="646546" y="5656779"/>
            <a:ext cx="3982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Fix on front right of operator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8438BB-B0AD-0940-8366-2CC2010E8C3F}"/>
              </a:ext>
            </a:extLst>
          </p:cNvPr>
          <p:cNvSpPr txBox="1"/>
          <p:nvPr/>
        </p:nvSpPr>
        <p:spPr>
          <a:xfrm>
            <a:off x="7172037" y="5656778"/>
            <a:ext cx="4188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Fix on front inside of operator</a:t>
            </a:r>
          </a:p>
        </p:txBody>
      </p:sp>
    </p:spTree>
    <p:extLst>
      <p:ext uri="{BB962C8B-B14F-4D97-AF65-F5344CB8AC3E}">
        <p14:creationId xmlns:p14="http://schemas.microsoft.com/office/powerpoint/2010/main" val="2774328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D778A6-966D-6A4E-D24A-939D1F3B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7" y="875149"/>
            <a:ext cx="10997425" cy="5277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E4F9A-24E8-B8DD-6A8E-FF554AA8CA38}"/>
              </a:ext>
            </a:extLst>
          </p:cNvPr>
          <p:cNvSpPr txBox="1"/>
          <p:nvPr/>
        </p:nvSpPr>
        <p:spPr>
          <a:xfrm>
            <a:off x="0" y="11175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87DC"/>
                </a:solidFill>
              </a:rPr>
              <a:t>Delta Screwdriver</a:t>
            </a:r>
          </a:p>
        </p:txBody>
      </p:sp>
    </p:spTree>
    <p:extLst>
      <p:ext uri="{BB962C8B-B14F-4D97-AF65-F5344CB8AC3E}">
        <p14:creationId xmlns:p14="http://schemas.microsoft.com/office/powerpoint/2010/main" val="276223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7A1EE9-19A1-3B46-9B75-32979BB0D7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709"/>
          <a:stretch>
            <a:fillRect/>
          </a:stretch>
        </p:blipFill>
        <p:spPr>
          <a:xfrm>
            <a:off x="1918618" y="608247"/>
            <a:ext cx="8354764" cy="35705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583D6E-FC3F-A489-866B-202607940CDC}"/>
              </a:ext>
            </a:extLst>
          </p:cNvPr>
          <p:cNvSpPr txBox="1"/>
          <p:nvPr/>
        </p:nvSpPr>
        <p:spPr>
          <a:xfrm>
            <a:off x="0" y="11175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87DC"/>
                </a:solidFill>
              </a:rPr>
              <a:t>Blow Screw feeder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CEDFFB-7447-722A-DD6C-CA595A8FE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012826"/>
              </p:ext>
            </p:extLst>
          </p:nvPr>
        </p:nvGraphicFramePr>
        <p:xfrm>
          <a:off x="2505456" y="4335228"/>
          <a:ext cx="6537960" cy="12058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8418">
                  <a:extLst>
                    <a:ext uri="{9D8B030D-6E8A-4147-A177-3AD203B41FA5}">
                      <a16:colId xmlns:a16="http://schemas.microsoft.com/office/drawing/2014/main" val="1886577207"/>
                    </a:ext>
                  </a:extLst>
                </a:gridCol>
                <a:gridCol w="1677532">
                  <a:extLst>
                    <a:ext uri="{9D8B030D-6E8A-4147-A177-3AD203B41FA5}">
                      <a16:colId xmlns:a16="http://schemas.microsoft.com/office/drawing/2014/main" val="2230206231"/>
                    </a:ext>
                  </a:extLst>
                </a:gridCol>
                <a:gridCol w="3642010">
                  <a:extLst>
                    <a:ext uri="{9D8B030D-6E8A-4147-A177-3AD203B41FA5}">
                      <a16:colId xmlns:a16="http://schemas.microsoft.com/office/drawing/2014/main" val="252834354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algn="ctr" defTabSz="914377" rtl="0" eaLnBrk="1" fontAlgn="b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MRO PN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Model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600" b="0" i="0" u="none" strike="noStrike" kern="1200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09686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A00100301914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AM-H0503002-0000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Screw feeder tube M3-4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88219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A00100301915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AM-H0503002-1000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Screw feeder tube M5-6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43742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A00100302336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AM-H0503002-2000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Screw feeder Long lift M3-4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0131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A00100302332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AM-H0503002-2001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Screw feeder Long lift M5-6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932756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A00100302331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AM-H0503002-5000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Nut feeder Tube shoot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1544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577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0674-AED7-90C0-4A7F-94EB159F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682E7-2DFA-6FF4-2D72-6C74BF5255A9}"/>
              </a:ext>
            </a:extLst>
          </p:cNvPr>
          <p:cNvSpPr txBox="1"/>
          <p:nvPr/>
        </p:nvSpPr>
        <p:spPr>
          <a:xfrm>
            <a:off x="0" y="11175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87DC"/>
                </a:solidFill>
              </a:rPr>
              <a:t>Smart screw feeder</a:t>
            </a:r>
          </a:p>
        </p:txBody>
      </p:sp>
      <p:pic>
        <p:nvPicPr>
          <p:cNvPr id="2050" name="Picture 2" descr="Manual screw feeders">
            <a:extLst>
              <a:ext uri="{FF2B5EF4-FFF2-40B4-BE49-F238E27FC236}">
                <a16:creationId xmlns:a16="http://schemas.microsoft.com/office/drawing/2014/main" id="{380E8473-DA34-7602-3919-30E2410A2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8" r="10754"/>
          <a:stretch/>
        </p:blipFill>
        <p:spPr bwMode="auto">
          <a:xfrm>
            <a:off x="1819483" y="841706"/>
            <a:ext cx="2899323" cy="260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bly screw">
            <a:extLst>
              <a:ext uri="{FF2B5EF4-FFF2-40B4-BE49-F238E27FC236}">
                <a16:creationId xmlns:a16="http://schemas.microsoft.com/office/drawing/2014/main" id="{F774E0D6-9E17-1A2A-38AE-A922C479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" r="282" b="3141"/>
          <a:stretch>
            <a:fillRect/>
          </a:stretch>
        </p:blipFill>
        <p:spPr bwMode="auto">
          <a:xfrm>
            <a:off x="4969294" y="1382893"/>
            <a:ext cx="3193599" cy="168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27DA12-D327-DE74-8E4F-A3CC1129D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03842"/>
              </p:ext>
            </p:extLst>
          </p:nvPr>
        </p:nvGraphicFramePr>
        <p:xfrm>
          <a:off x="2340864" y="4068688"/>
          <a:ext cx="6318505" cy="1591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0008">
                  <a:extLst>
                    <a:ext uri="{9D8B030D-6E8A-4147-A177-3AD203B41FA5}">
                      <a16:colId xmlns:a16="http://schemas.microsoft.com/office/drawing/2014/main" val="3814310082"/>
                    </a:ext>
                  </a:extLst>
                </a:gridCol>
                <a:gridCol w="1664588">
                  <a:extLst>
                    <a:ext uri="{9D8B030D-6E8A-4147-A177-3AD203B41FA5}">
                      <a16:colId xmlns:a16="http://schemas.microsoft.com/office/drawing/2014/main" val="3657345334"/>
                    </a:ext>
                  </a:extLst>
                </a:gridCol>
                <a:gridCol w="3613909">
                  <a:extLst>
                    <a:ext uri="{9D8B030D-6E8A-4147-A177-3AD203B41FA5}">
                      <a16:colId xmlns:a16="http://schemas.microsoft.com/office/drawing/2014/main" val="347134098"/>
                    </a:ext>
                  </a:extLst>
                </a:gridCol>
              </a:tblGrid>
              <a:tr h="318289">
                <a:tc>
                  <a:txBody>
                    <a:bodyPr/>
                    <a:lstStyle/>
                    <a:p>
                      <a:pPr marL="0" algn="ctr" defTabSz="914377" rtl="0" eaLnBrk="1" fontAlgn="b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MRO PN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Model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600" b="0" i="0" u="none" strike="noStrike" kern="1200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8326762"/>
                  </a:ext>
                </a:extLst>
              </a:tr>
              <a:tr h="318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A00100302337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AM-H0503002-3000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ASSY SCREW FEEDER PICK&amp;PULL OUT M2-M6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9222476"/>
                  </a:ext>
                </a:extLst>
              </a:tr>
              <a:tr h="318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A00100302333</a:t>
                      </a:r>
                      <a:endParaRPr lang="en-US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AM-H0503002-3004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ASSY SCREW FEEDER PICK&amp;PULL OUT M2-M8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3307293"/>
                  </a:ext>
                </a:extLst>
              </a:tr>
              <a:tr h="318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A00100302338</a:t>
                      </a:r>
                      <a:endParaRPr lang="en-US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AM-H0503002-4000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ASSY SCREW FEEDER SIDE ROTATION M2-M6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5865984"/>
                  </a:ext>
                </a:extLst>
              </a:tr>
              <a:tr h="318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A00100302334</a:t>
                      </a:r>
                      <a:endParaRPr lang="en-US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AM-H0503002-4002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ASSY SCREW FEEDER SIDE ROTATION M2-M6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5370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744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693408"/>
      </p:ext>
    </p:extLst>
  </p:cSld>
  <p:clrMapOvr>
    <a:masterClrMapping/>
  </p:clrMapOvr>
</p:sld>
</file>

<file path=ppt/theme/theme1.xml><?xml version="1.0" encoding="utf-8"?>
<a:theme xmlns:a="http://schemas.openxmlformats.org/drawingml/2006/main" name="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PTtemplate_16x9_EN" id="{AB7E8207-7EFD-42D6-915B-94A9E5ABAC21}" vid="{115B2ECF-35DF-4A82-A0C0-9889D580E89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Delta_PPTtemplate_16x9_EN</Template>
  <TotalTime>11</TotalTime>
  <Words>384</Words>
  <Application>Microsoft Office PowerPoint</Application>
  <PresentationFormat>Widescreen</PresentationFormat>
  <Paragraphs>142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Delta_PPTtemplate_16x9</vt:lpstr>
      <vt:lpstr>Delta Intelligent Smart Screw System  Version 25.07</vt:lpstr>
      <vt:lpstr>PowerPoint Presentation</vt:lpstr>
      <vt:lpstr>PowerPoint Presentation</vt:lpstr>
      <vt:lpstr>Software of Smart screw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Maximum 2 Lines (32pt)</dc:title>
  <dc:creator>user</dc:creator>
  <cp:lastModifiedBy>Sarayut.Chae</cp:lastModifiedBy>
  <cp:revision>3</cp:revision>
  <dcterms:created xsi:type="dcterms:W3CDTF">2022-01-20T01:43:08Z</dcterms:created>
  <dcterms:modified xsi:type="dcterms:W3CDTF">2026-08-26T03:29:38Z</dcterms:modified>
</cp:coreProperties>
</file>